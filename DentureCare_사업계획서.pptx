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예산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개발비</c:v>
                </c:pt>
                <c:pt idx="1">
                  <c:v>서버·인프라</c:v>
                </c:pt>
                <c:pt idx="2">
                  <c:v>파일럿</c:v>
                </c:pt>
                <c:pt idx="3">
                  <c:v>홍보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360</c:v>
                </c:pt>
                <c:pt idx="2">
                  <c:v>200</c:v>
                </c:pt>
                <c:pt idx="3">
                  <c:v>150</c:v>
                </c:pt>
                <c:pt idx="4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3F-7F4C-9BBE-0C821FBF24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t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1097280"/>
            <a:ext cx="5029200" cy="5029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0" y="-182880"/>
            <a:ext cx="4114800" cy="4114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457200"/>
            <a:ext cx="2743200" cy="2743200"/>
          </a:xfrm>
          <a:prstGeom prst="ellipse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82296" cy="2926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292608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사업계획서  2026  |  v12 최신버전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8229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DentureCare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27248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A8D8EA"/>
                </a:solidFill>
                <a:latin typeface="Malgun Gothic"/>
              </a:rPr>
              <a:t>틀니 유지관리 모바일 프로그램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8229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BDD7EA"/>
                </a:solidFill>
                <a:latin typeface="Malgun Gothic"/>
              </a:rPr>
              <a:t>행동변화 이론 기반 노인 틀니 관리 자동화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7FB3CC"/>
                </a:solidFill>
                <a:latin typeface="Malgun Gothic"/>
              </a:rPr>
              <a:t>프로토타입 v12  ·  총 12개 누적 버전  ·  5,000줄 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870448"/>
            <a:ext cx="12188952" cy="987552"/>
          </a:xfrm>
          <a:prstGeom prst="rect">
            <a:avLst/>
          </a:prstGeom>
          <a:solidFill>
            <a:srgbClr val="0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042844"/>
            <a:ext cx="10972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 err="1">
                <a:solidFill>
                  <a:srgbClr val="A8D8EA"/>
                </a:solidFill>
                <a:latin typeface="Malgun Gothic"/>
              </a:rPr>
              <a:t>작성</a:t>
            </a:r>
            <a:r>
              <a:rPr sz="1200" b="0" i="0" dirty="0">
                <a:solidFill>
                  <a:srgbClr val="A8D8EA"/>
                </a:solidFill>
                <a:latin typeface="Malgun Gothic"/>
              </a:rPr>
              <a:t>: </a:t>
            </a:r>
            <a:r>
              <a:rPr sz="1200" b="0" i="0" dirty="0" err="1">
                <a:solidFill>
                  <a:srgbClr val="A8D8EA"/>
                </a:solidFill>
                <a:latin typeface="Malgun Gothic"/>
              </a:rPr>
              <a:t>심미현</a:t>
            </a:r>
            <a:r>
              <a:rPr sz="1200" b="0" i="0" dirty="0">
                <a:solidFill>
                  <a:srgbClr val="A8D8EA"/>
                </a:solidFill>
                <a:latin typeface="Malgun Gothic"/>
              </a:rPr>
              <a:t> (</a:t>
            </a:r>
            <a:r>
              <a:rPr sz="1200" b="0" i="0" dirty="0" err="1">
                <a:solidFill>
                  <a:srgbClr val="A8D8EA"/>
                </a:solidFill>
                <a:latin typeface="Malgun Gothic"/>
              </a:rPr>
              <a:t>신성대학교</a:t>
            </a:r>
            <a:r>
              <a:rPr sz="1200" b="0" i="0" dirty="0">
                <a:solidFill>
                  <a:srgbClr val="A8D8EA"/>
                </a:solidFill>
                <a:latin typeface="Malgun Gothic"/>
              </a:rPr>
              <a:t> </a:t>
            </a:r>
            <a:r>
              <a:rPr sz="1200" b="0" i="0" dirty="0" err="1">
                <a:solidFill>
                  <a:srgbClr val="A8D8EA"/>
                </a:solidFill>
                <a:latin typeface="Malgun Gothic"/>
              </a:rPr>
              <a:t>치위생학과</a:t>
            </a:r>
            <a:r>
              <a:rPr lang="en-US" altLang="ko-KR" sz="1200" dirty="0">
                <a:solidFill>
                  <a:srgbClr val="A8D8EA"/>
                </a:solidFill>
                <a:latin typeface="Malgun Gothic"/>
              </a:rPr>
              <a:t>)</a:t>
            </a:r>
            <a:r>
              <a:rPr sz="1200" b="0" i="0" dirty="0">
                <a:solidFill>
                  <a:srgbClr val="A8D8EA"/>
                </a:solidFill>
                <a:latin typeface="Malgun Gothic"/>
              </a:rPr>
              <a:t>   |   </a:t>
            </a:r>
            <a:r>
              <a:rPr sz="1200" b="0" i="0" dirty="0" err="1">
                <a:solidFill>
                  <a:srgbClr val="A8D8EA"/>
                </a:solidFill>
                <a:latin typeface="Malgun Gothic"/>
              </a:rPr>
              <a:t>작성일</a:t>
            </a:r>
            <a:r>
              <a:rPr sz="1200" b="0" i="0" dirty="0">
                <a:solidFill>
                  <a:srgbClr val="A8D8EA"/>
                </a:solidFill>
                <a:latin typeface="Malgun Gothic"/>
              </a:rPr>
              <a:t>: 2026년 6월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830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463040"/>
            <a:ext cx="28346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028090"/>
                </a:solidFill>
                <a:latin typeface="Malgun Gothic"/>
              </a:rPr>
              <a:t>TABLE OF
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788920"/>
            <a:ext cx="2834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algun Gothic"/>
              </a:rPr>
              <a:t>목  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84448"/>
            <a:ext cx="201168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56432" y="566928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432" y="56692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664425"/>
            <a:ext cx="192552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 err="1">
                <a:solidFill>
                  <a:srgbClr val="1C2833"/>
                </a:solidFill>
                <a:latin typeface="Malgun Gothic"/>
              </a:rPr>
              <a:t>사업</a:t>
            </a:r>
            <a:r>
              <a:rPr sz="1500" b="1" dirty="0">
                <a:solidFill>
                  <a:srgbClr val="1C2833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1C2833"/>
                </a:solidFill>
                <a:latin typeface="Malgun Gothic"/>
              </a:rPr>
              <a:t>배경</a:t>
            </a:r>
            <a:r>
              <a:rPr sz="1500" b="1" dirty="0">
                <a:solidFill>
                  <a:srgbClr val="1C2833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1C2833"/>
                </a:solidFill>
                <a:latin typeface="Malgun Gothic"/>
              </a:rPr>
              <a:t>및</a:t>
            </a:r>
            <a:r>
              <a:rPr sz="1500" b="1" dirty="0">
                <a:solidFill>
                  <a:srgbClr val="1C2833"/>
                </a:solidFill>
                <a:latin typeface="Malgun Gothic"/>
              </a:rPr>
              <a:t> </a:t>
            </a:r>
            <a:r>
              <a:rPr sz="1500" b="1" dirty="0" err="1">
                <a:solidFill>
                  <a:srgbClr val="1C2833"/>
                </a:solidFill>
                <a:latin typeface="Malgun Gothic"/>
              </a:rPr>
              <a:t>필요성</a:t>
            </a:r>
            <a:endParaRPr sz="1500" b="1" dirty="0">
              <a:solidFill>
                <a:srgbClr val="1C2833"/>
              </a:solidFill>
              <a:latin typeface="Malgun Gothic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456432" y="1325880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32588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423377"/>
            <a:ext cx="121379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이론적 근거</a:t>
            </a:r>
          </a:p>
        </p:txBody>
      </p:sp>
      <p:sp>
        <p:nvSpPr>
          <p:cNvPr id="14" name="Oval 13"/>
          <p:cNvSpPr/>
          <p:nvPr/>
        </p:nvSpPr>
        <p:spPr>
          <a:xfrm>
            <a:off x="3456432" y="2084832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208483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182329"/>
            <a:ext cx="254749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프로그램 개요  (v1 → v12)</a:t>
            </a:r>
          </a:p>
        </p:txBody>
      </p:sp>
      <p:sp>
        <p:nvSpPr>
          <p:cNvPr id="17" name="Oval 16"/>
          <p:cNvSpPr/>
          <p:nvPr/>
        </p:nvSpPr>
        <p:spPr>
          <a:xfrm>
            <a:off x="3456432" y="2843784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6432" y="2843784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941281"/>
            <a:ext cx="186140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핵심 기능  (v3~v8)</a:t>
            </a:r>
          </a:p>
        </p:txBody>
      </p:sp>
      <p:sp>
        <p:nvSpPr>
          <p:cNvPr id="20" name="Oval 19"/>
          <p:cNvSpPr/>
          <p:nvPr/>
        </p:nvSpPr>
        <p:spPr>
          <a:xfrm>
            <a:off x="3456432" y="3602736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360273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700233"/>
            <a:ext cx="1768433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v9~v12 최신 기능</a:t>
            </a:r>
          </a:p>
        </p:txBody>
      </p:sp>
      <p:sp>
        <p:nvSpPr>
          <p:cNvPr id="23" name="Oval 22"/>
          <p:cNvSpPr/>
          <p:nvPr/>
        </p:nvSpPr>
        <p:spPr>
          <a:xfrm>
            <a:off x="3456432" y="4361688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56432" y="4361688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459185"/>
            <a:ext cx="1585690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4종 액터 시스템</a:t>
            </a:r>
          </a:p>
        </p:txBody>
      </p:sp>
      <p:sp>
        <p:nvSpPr>
          <p:cNvPr id="26" name="Oval 25"/>
          <p:cNvSpPr/>
          <p:nvPr/>
        </p:nvSpPr>
        <p:spPr>
          <a:xfrm>
            <a:off x="3456432" y="5120640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512064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5218137"/>
            <a:ext cx="1473480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리콜 계산 엔진</a:t>
            </a:r>
          </a:p>
        </p:txBody>
      </p:sp>
      <p:sp>
        <p:nvSpPr>
          <p:cNvPr id="29" name="Oval 28"/>
          <p:cNvSpPr/>
          <p:nvPr/>
        </p:nvSpPr>
        <p:spPr>
          <a:xfrm>
            <a:off x="3456432" y="5879592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56432" y="5879592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977089"/>
            <a:ext cx="261161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C2833"/>
                </a:solidFill>
                <a:latin typeface="Malgun Gothic"/>
              </a:rPr>
              <a:t>추진 일정 · 예산 · 기대 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사업 배경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고령화 사회와 틀니 관리의 중요성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61188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361188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98448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26567"/>
                </a:solidFill>
                <a:latin typeface="Malgun Gothic"/>
              </a:rPr>
              <a:t>65세 이상
인구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028090"/>
                </a:solidFill>
                <a:latin typeface="Malgun Gothic"/>
              </a:rPr>
              <a:t>19.2%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87168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26567"/>
                </a:solidFill>
                <a:latin typeface="Malgun Gothic"/>
              </a:rPr>
              <a:t>2024년 기준 초고령사회 진입 목전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70432"/>
            <a:ext cx="361188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170432"/>
            <a:ext cx="361188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298448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26567"/>
                </a:solidFill>
                <a:latin typeface="Malgun Gothic"/>
              </a:rPr>
              <a:t>의치 사용
노인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828800"/>
            <a:ext cx="3246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  <a:latin typeface="Malgun Gothic"/>
              </a:rPr>
              <a:t>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87168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26567"/>
                </a:solidFill>
                <a:latin typeface="Malgun Gothic"/>
              </a:rPr>
              <a:t>노인 3명 중 1명이 틀니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170432"/>
            <a:ext cx="361188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9" y="1170432"/>
            <a:ext cx="3611880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199" y="1298448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26567"/>
                </a:solidFill>
                <a:latin typeface="Malgun Gothic"/>
              </a:rPr>
              <a:t>정기 검진
미수검률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9" y="1828800"/>
            <a:ext cx="3246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  <a:latin typeface="Malgun Gothic"/>
              </a:rPr>
              <a:t>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2487168"/>
            <a:ext cx="3246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626567"/>
                </a:solidFill>
                <a:latin typeface="Malgun Gothic"/>
              </a:rPr>
              <a:t>대부분 적절한 리콜 관리 미흡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337560"/>
            <a:ext cx="5029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2F5F"/>
                </a:solidFill>
                <a:latin typeface="Malgun Gothic"/>
              </a:rPr>
              <a:t>핵심 문제점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64008" cy="2560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749039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C2833"/>
                </a:solidFill>
                <a:latin typeface="Malgun Gothic"/>
              </a:rPr>
              <a:t>🦷  관리 지식 부족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133087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626567"/>
                </a:solidFill>
                <a:latin typeface="Malgun Gothic"/>
              </a:rPr>
              <a:t>노인의 68%가 틀니 세척 방법·보관법을 잘못 알고 있음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17720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C2833"/>
                </a:solidFill>
                <a:latin typeface="Malgun Gothic"/>
              </a:rPr>
              <a:t>📅  검진 일정 미준수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01768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626567"/>
                </a:solidFill>
                <a:latin typeface="Malgun Gothic"/>
              </a:rPr>
              <a:t>리콜 일정을 알지 못해 적절한 검진 시기를 놓침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86400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C2833"/>
                </a:solidFill>
                <a:latin typeface="Malgun Gothic"/>
              </a:rPr>
              <a:t>📲  디지털 지원 부재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626567"/>
                </a:solidFill>
                <a:latin typeface="Malgun Gothic"/>
              </a:rPr>
              <a:t>행동변화를 유도하는 맞춤형 모바일 도구 전무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200400"/>
            <a:ext cx="5394960" cy="333756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92240" y="3200400"/>
            <a:ext cx="109728" cy="3337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48272" y="3310128"/>
            <a:ext cx="5029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Malgun Gothic"/>
              </a:rPr>
              <a:t>DentureCare의 해결책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822191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논문 기반 자동 리콜 일정 계산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270248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일일 행동 알람으로 관리 습관 형성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4718304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검진 D-day 시각화 및 예약 연결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5166359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응급·미수행 통합 알람 시스템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5614416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건강보험 정보 일일 팝업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6062472"/>
            <a:ext cx="5029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✔ 노인 맞춤 글씨 크기·루틴 시간 편집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이론적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BCW·COM-B 행동변화 이론 + 임상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5760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2F5F"/>
                </a:solidFill>
                <a:latin typeface="Malgun Gothic"/>
              </a:rPr>
              <a:t>행동변화 이론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8064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28016" cy="16276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09344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Malgun Gothic"/>
              </a:rPr>
              <a:t>COM-B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56816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26567"/>
                </a:solidFill>
                <a:latin typeface="Malgun Gothic"/>
              </a:rPr>
              <a:t>Susan Michie 교수팀 (UCL) · 2011년 · NHS 공식 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94560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행동(Behaviour)은 능력·기회·동기 세 요소가 상호작용할 때 발생한다는 이론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96312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능력(Capability): 틀니 세척 동작 수행 + 올바른 관리 지식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15768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기회(Opportunity): 세척 도구 접근성 + 가족·요양보호사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35224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동기(Motivation): 습관(자동적) + 의식적 결정(반성적)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55264"/>
            <a:ext cx="58064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55264"/>
            <a:ext cx="128016" cy="16276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310128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Malgun Gothic"/>
              </a:rPr>
              <a:t>BCW (Behaviour Change Wheel)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657600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26567"/>
                </a:solidFill>
                <a:latin typeface="Malgun Gothic"/>
              </a:rPr>
              <a:t>Michie 교수팀 · COM-B 확장 프레임워크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895344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COM-B로 원인 진단 후 최적 중재 전략을 선택하는 행동변화 설계 도구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97096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교육: 건강보험 정보 팝업 15종으로 지식 제공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16552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환경 재설계: 일일 알람 자동화로 행동 유도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636008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가능화: 1탭 치과 예약 연결로 접근성 향상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56048"/>
            <a:ext cx="58064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956048"/>
            <a:ext cx="128016" cy="1627632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5010912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618D"/>
                </a:solidFill>
                <a:latin typeface="Malgun Gothic"/>
              </a:rPr>
              <a:t>SRHI (Self-Report Habit Index)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358384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626567"/>
                </a:solidFill>
                <a:latin typeface="Malgun Gothic"/>
              </a:rPr>
              <a:t>Verplanken &amp; Orbell · 2003년 · 12문항 습관 측정 척도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596128"/>
            <a:ext cx="5394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특정 행동이 얼마나 자동화되었는지(자동성)를 점수화하는 표준 습관 측정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97880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12개 문항으로 행동 자동성 0~100점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117336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구강보건·운동·식이 습관 연구에서 광범위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36792"/>
            <a:ext cx="5349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1C2833"/>
                </a:solidFill>
                <a:latin typeface="Malgun Gothic"/>
              </a:rPr>
              <a:t>• DentureCare: 자동성 점수 → 노인 친화적 '관리 점수'로 변환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097280"/>
            <a:ext cx="5486400" cy="5486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1097280"/>
            <a:ext cx="109728" cy="5486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56832" y="1170432"/>
            <a:ext cx="5120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2F5F"/>
                </a:solidFill>
                <a:latin typeface="Malgun Gothic"/>
              </a:rPr>
              <a:t>임상 연구 근거 (리콜 엔진)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1719072"/>
            <a:ext cx="5074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629400" y="1719072"/>
            <a:ext cx="50749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1810512"/>
            <a:ext cx="4754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Malgun Gothic"/>
              </a:rPr>
              <a:t>Tallgren A. (1972)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139696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의치 사용자 25년 종단연구
하악 평균 6.6mm 골 흡수 (상악의 4배)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2871215"/>
            <a:ext cx="5074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29400" y="2871215"/>
            <a:ext cx="50749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0" y="2962656"/>
            <a:ext cx="4754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Malgun Gothic"/>
              </a:rPr>
              <a:t>Atwood DA. (1971)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291839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잔존치조제흡수(RRR)를 주요 구강질환으로 명명
발치 후 첫 수개월 흡수 최대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023360"/>
            <a:ext cx="5074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629400" y="4023360"/>
            <a:ext cx="50749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0" y="4114800"/>
            <a:ext cx="4754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Malgun Gothic"/>
              </a:rPr>
              <a:t>Sadr K. et al. (2011)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443984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의치 장착 후 첫 방문 85.8%에서 점막 손상
조정 필요 → 적응기 집중 관찰 근거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5175504"/>
            <a:ext cx="5074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629400" y="5175504"/>
            <a:ext cx="50749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0" y="5266944"/>
            <a:ext cx="4754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Malgun Gothic"/>
              </a:rPr>
              <a:t>ACP/ADA 가이드라인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596128"/>
            <a:ext cx="4754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1C2833"/>
                </a:solidFill>
                <a:latin typeface="Malgun Gothic"/>
              </a:rPr>
              <a:t>리라이닝 1~2년마다 권장
5년 이상 사용 시 연조직 병변 위험 증가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프로그램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DentureCare v12 — 12개 버전, 5,000줄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1147572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70432"/>
            <a:ext cx="109728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07008"/>
            <a:ext cx="1106424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C2833"/>
                </a:solidFill>
                <a:latin typeface="Malgun Gothic"/>
              </a:rPr>
              <a:t>DentureCare는 노인 틀니 사용자의 일일 유지관리 행동을 자동화하고 정기 치과 검진을 유도하는 모바일 헬스 앱으로,
BCW·COM-B 이론과 Tallgren·Atwood 임상 연구를 기반으로 설계되었으며 현재 프로토타입 v12까지 구현되었습니다.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2788920" cy="1874519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606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자동 일정 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2606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틀니 제작시기 기반
검진 일정 자동 산출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286000"/>
            <a:ext cx="2788920" cy="1874519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377440"/>
            <a:ext cx="2606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행동 자동화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79" y="2834640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926080"/>
            <a:ext cx="2606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일일 양치·보관 알람으로
자기관리 습관 형성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286000"/>
            <a:ext cx="2788920" cy="1874519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606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통합 알람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34640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2606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응급 자가보고 + 미수행
자동 감지 통합 시스템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2286000"/>
            <a:ext cx="2788920" cy="1874519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2377440"/>
            <a:ext cx="260604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정보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55480" y="2834640"/>
            <a:ext cx="2240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80"/>
            <a:ext cx="2606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건강보험 안내 15종
하루 한 번 자동 팝업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A2F5F"/>
                </a:solidFill>
                <a:latin typeface="Malgun Gothic"/>
              </a:rPr>
              <a:t>버전별 발전 이력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" y="4800600"/>
            <a:ext cx="685800" cy="685800"/>
          </a:xfrm>
          <a:prstGeom prst="ellipse">
            <a:avLst/>
          </a:prstGeom>
          <a:solidFill>
            <a:srgbClr val="626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4974223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Malgun Gothic"/>
              </a:rPr>
              <a:t>v1~2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기초알람
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1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495044" y="4800600"/>
            <a:ext cx="685800" cy="68580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495044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1892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등록+
리콜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80844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642616" y="4800600"/>
            <a:ext cx="685800" cy="68580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42616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9464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영구
저장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28416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90188" y="480060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90188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17036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단골치과
검색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75988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937760" y="480060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0" y="4974223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v6~7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검진탭
재구성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23560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085332" y="4800600"/>
            <a:ext cx="685800" cy="6858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5332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12180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데이터
영구저장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1132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232904" y="480060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32904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9752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팝업
알람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18704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380476" y="480060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80476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07324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통합
알람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6276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528048" y="480060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528048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54896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수정
다이얼로그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13848" y="5111496"/>
            <a:ext cx="461772" cy="4572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675620" y="4800600"/>
            <a:ext cx="685800" cy="6858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675620" y="4943445"/>
            <a:ext cx="6858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2468" y="5541264"/>
            <a:ext cx="83210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1C2833"/>
                </a:solidFill>
                <a:latin typeface="Malgun Gothic"/>
              </a:rPr>
              <a:t>일일정보
팝업+UI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88852" y="4828032"/>
            <a:ext cx="10972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CB4235"/>
                </a:solidFill>
                <a:latin typeface="Malgun Gothic"/>
              </a:rPr>
              <a:t>◀ 현재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핵심 기능 (v3~v8)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환자 등록 → 리콜 계산 → 검진 유도 → 데이터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5742432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0352" y="1298448"/>
            <a:ext cx="475488" cy="47548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366915"/>
            <a:ext cx="4754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16736"/>
            <a:ext cx="4800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Malgun Gothic"/>
              </a:rPr>
              <a:t>환자 등록 시스템  (v3)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83664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6단계 등록 마법사 (이름·출생연도·틀니제작시기)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304288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보호자 초대 코드 (카카오톡 공유)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724912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단골 치과 등록 및 검색 (v5)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45536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미입력 항목 자동 안내 (v6)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2512" y="1115568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82512" y="1115568"/>
            <a:ext cx="5742432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47104" y="1298448"/>
            <a:ext cx="475488" cy="47548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1366915"/>
            <a:ext cx="4754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1316736"/>
            <a:ext cx="4800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Malgun Gothic"/>
              </a:rPr>
              <a:t>리콜 자동 계산 엔진  (v5)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1883664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0~3개월 적응기: 1개월 간격 (집중 관찰)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304288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3~12개월 1년차: 3개월 간격 (급격 흡수기)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724912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1~5년 안정기: 6개월 간격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3145536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5년+ 장기사용: 6개월 간격 (교체 검토)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31336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31336"/>
            <a:ext cx="5742432" cy="82296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0352" y="4014216"/>
            <a:ext cx="475488" cy="475488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082683"/>
            <a:ext cx="4754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32504"/>
            <a:ext cx="4800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F618D"/>
                </a:solidFill>
                <a:latin typeface="Malgun Gothic"/>
              </a:rPr>
              <a:t>검진 유도 시스템  (v7)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599432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검진 타임라인 시각화 (D-day 바 그래프)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020056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D-14 노랑 / D-7 주황 / D-3 빨강 강조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440680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가디언즈치과 1탭 예약 연결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861304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검진 점검 항목: 적합도·잇몸·점막·리라이닝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3831336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82512" y="3831336"/>
            <a:ext cx="5742432" cy="82296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47104" y="4014216"/>
            <a:ext cx="475488" cy="475488"/>
          </a:xfrm>
          <a:prstGeom prst="ellipse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7104" y="4082683"/>
            <a:ext cx="4754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4032504"/>
            <a:ext cx="48006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A2F5F"/>
                </a:solidFill>
                <a:latin typeface="Malgun Gothic"/>
              </a:rPr>
              <a:t>데이터 영구 저장  (v8)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4599432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환자 정보·틀니제작시기·단골치과 영구 보존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5020056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연속일수·관리점수 자동 누적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5440680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앱 재실행 시 자동 불러오기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5861304"/>
            <a:ext cx="5321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• 데이터 초기화 메뉴 (확인 다이얼로그 포함)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v9~v12 최신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2026년 상반기 추가 구현 — 4개 버전, 핵심 UX 고도화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5742432" cy="822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280160"/>
            <a:ext cx="658368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62985"/>
            <a:ext cx="6583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298448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Malgun Gothic"/>
              </a:rPr>
              <a:t>리콜 임박 팝업 알람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81051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D-14: 노란색 팝업 '2주 뒤 검진 예정이에요'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7627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D-7: 주황색 + 예약 버튼 '이번 주 검진이에요!'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54203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D-3: 빨간색 + 상단 배너 '3일 뒤 검진이에요!'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0779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D-day: 최고 강조 / D+1 이후 '다녀오셨어요?' 팝업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27355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하루 한 번만 표시 (알림 피로 방지)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1115568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82512" y="1115568"/>
            <a:ext cx="5742432" cy="82296"/>
          </a:xfrm>
          <a:prstGeom prst="rect">
            <a:avLst/>
          </a:prstGeom>
          <a:solidFill>
            <a:srgbClr val="CB4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47104" y="1280160"/>
            <a:ext cx="658368" cy="365760"/>
          </a:xfrm>
          <a:prstGeom prst="rect">
            <a:avLst/>
          </a:prstGeom>
          <a:solidFill>
            <a:srgbClr val="CB4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1262985"/>
            <a:ext cx="6583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298448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CB4235"/>
                </a:solidFill>
                <a:latin typeface="Malgun Gothic"/>
              </a:rPr>
              <a:t>통합 알람 시스템 (응급 + 미수행)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181051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자가 보고 메뉴: 잇몸통증·틀니파손·틀니헐거움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17627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미수행 자동 감지: 1일·3일 미수행 단계별 알람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254203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취침 전 틀니 탈거 확인 알람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2907792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응급별 맞춤 대처법·주의사항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3273552"/>
            <a:ext cx="5321808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1C2833"/>
                </a:solidFill>
                <a:latin typeface="Malgun Gothic"/>
              </a:rPr>
              <a:t>• 1탭으로 </a:t>
            </a:r>
            <a:r>
              <a:rPr lang="ko-KR" altLang="en-US" sz="1050" b="0" i="0" dirty="0">
                <a:solidFill>
                  <a:srgbClr val="1C2833"/>
                </a:solidFill>
                <a:latin typeface="Malgun Gothic"/>
              </a:rPr>
              <a:t>치과</a:t>
            </a:r>
            <a:r>
              <a:rPr sz="1050" b="0" i="0" dirty="0">
                <a:solidFill>
                  <a:srgbClr val="1C2833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1C2833"/>
                </a:solidFill>
                <a:latin typeface="Malgun Gothic"/>
              </a:rPr>
              <a:t>바로</a:t>
            </a:r>
            <a:r>
              <a:rPr sz="1050" b="0" i="0" dirty="0">
                <a:solidFill>
                  <a:srgbClr val="1C2833"/>
                </a:solidFill>
                <a:latin typeface="Malgun Gothic"/>
              </a:rPr>
              <a:t> </a:t>
            </a:r>
            <a:r>
              <a:rPr sz="1050" b="0" i="0" dirty="0" err="1">
                <a:solidFill>
                  <a:srgbClr val="1C2833"/>
                </a:solidFill>
                <a:latin typeface="Malgun Gothic"/>
              </a:rPr>
              <a:t>연결</a:t>
            </a:r>
            <a:endParaRPr sz="1050" b="0" i="0" dirty="0">
              <a:solidFill>
                <a:srgbClr val="1C2833"/>
              </a:solidFill>
              <a:latin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831336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831336"/>
            <a:ext cx="5742432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" y="3995928"/>
            <a:ext cx="658368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978753"/>
            <a:ext cx="6583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14216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Malgun Gothic"/>
              </a:rPr>
              <a:t>틀니 제작시기 수정 다이얼로그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452628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설정 화면에서 틀니 제작 연도·월 수정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89204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수정 시 확인 다이얼로그 ('중요' 뱃지 표시)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25780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수정 후 리콜 일정 자동 재계산 및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62356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입력 오류 방지용 범위 검증 로직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3831336"/>
            <a:ext cx="5742432" cy="2542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82512" y="3831336"/>
            <a:ext cx="5742432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47104" y="3995928"/>
            <a:ext cx="658368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7104" y="3978753"/>
            <a:ext cx="6583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v12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014216"/>
            <a:ext cx="4663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Malgun Gothic"/>
              </a:rPr>
              <a:t>일일 정보 팝업 + 노인 맞춤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38544" y="452628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건강보험 유지관리 안내 7종 (만 65세 이상)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38544" y="489204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틀니 재제작 조건 안내 3종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8544" y="525780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일반 안내 5종 (처음 3개월 무료 점검 등)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8544" y="562356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글씨 크기 조절: 소·중·대 3단계 (v12.1)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5989320"/>
            <a:ext cx="5321808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• 루틴 알람 시간 편집 + 시·분 선택 팝업 (v12.2)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718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4종 액터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노인·가족·요양보호사·관리자의 역할별 인터페이스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70432"/>
            <a:ext cx="2779776" cy="5394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170432"/>
            <a:ext cx="2779776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08176" y="1216152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08176" y="12161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  <a:latin typeface="Malgun Gothic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18640"/>
            <a:ext cx="25968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노인 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1499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Malgun Gothic"/>
              </a:rPr>
              <a:t>주요 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0462"/>
            <a:ext cx="248716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일일 행동 체크 (양치·보관)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1960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검진 D-day 확인 및 예약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95735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응급 자가 보고 (v10)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89511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관리 점수·연속일수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4681728"/>
            <a:ext cx="2450592" cy="2743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548640" y="473815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626567"/>
                </a:solidFill>
                <a:latin typeface="Malgun Gothic"/>
              </a:rPr>
              <a:t>화면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6771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홈·일일관리·검진·기록 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170432"/>
            <a:ext cx="2779776" cy="5394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7560" y="1170432"/>
            <a:ext cx="2779776" cy="960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98264" y="1216152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12161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Malgun Gothic"/>
              </a:rPr>
              <a:t>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1818640"/>
            <a:ext cx="25968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가족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231499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Malgun Gothic"/>
              </a:rPr>
              <a:t>주요 역할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2708184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어르신 진행률 원격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201959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격려 메시지 발송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3695735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응급 알림 수신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189510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검진 일정 공유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4681728"/>
            <a:ext cx="2450592" cy="2743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3538728" y="473815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626567"/>
                </a:solidFill>
                <a:latin typeface="Malgun Gothic"/>
              </a:rPr>
              <a:t>화면 구성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5126771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가족 대시보드·알림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1170432"/>
            <a:ext cx="2779776" cy="5394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27648" y="1170432"/>
            <a:ext cx="2779776" cy="96012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88352" y="1216152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88352" y="12161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F618D"/>
                </a:solidFill>
                <a:latin typeface="Malgun Gothic"/>
              </a:rPr>
              <a:t>A3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818640"/>
            <a:ext cx="25968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요양보호사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231499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F618D"/>
                </a:solidFill>
                <a:latin typeface="Malgun Gothic"/>
              </a:rPr>
              <a:t>주요 역할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2708183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다수 어르신 동시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3201959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시설 응답률 통계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695735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검진 미수검자 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4189510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일괄 체크인 기능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681728"/>
            <a:ext cx="2450592" cy="2743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4" name="TextBox 43"/>
          <p:cNvSpPr txBox="1"/>
          <p:nvPr/>
        </p:nvSpPr>
        <p:spPr>
          <a:xfrm>
            <a:off x="6528816" y="473815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626567"/>
                </a:solidFill>
                <a:latin typeface="Malgun Gothic"/>
              </a:rPr>
              <a:t>화면 구성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5126771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담당자 리스트·시설 통계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17736" y="1170432"/>
            <a:ext cx="2779776" cy="5394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317736" y="1170432"/>
            <a:ext cx="2779776" cy="96012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378440" y="1216152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78440" y="1216152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1A2F5F"/>
                </a:solidFill>
                <a:latin typeface="Malgun Gothic"/>
              </a:rPr>
              <a:t>A5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9176" y="1818640"/>
            <a:ext cx="259689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시스템 관리자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8904" y="231499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1A2F5F"/>
                </a:solidFill>
                <a:latin typeface="Malgun Gothic"/>
              </a:rPr>
              <a:t>주요 역할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8904" y="2708183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전국 사용자·DAU 현황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18904" y="3201959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47개 시설 랭킹 관리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18904" y="3695735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이상 패턴 감지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8904" y="4189510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▸ KPI·CSV 익스포트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82328" y="4681728"/>
            <a:ext cx="2450592" cy="2743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7" name="TextBox 56"/>
          <p:cNvSpPr txBox="1"/>
          <p:nvPr/>
        </p:nvSpPr>
        <p:spPr>
          <a:xfrm>
            <a:off x="9518904" y="4738151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626567"/>
                </a:solidFill>
                <a:latin typeface="Malgun Gothic"/>
              </a:rPr>
              <a:t>화면 구성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18904" y="5126772"/>
            <a:ext cx="248716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1C2833"/>
                </a:solidFill>
                <a:latin typeface="Malgun Gothic"/>
              </a:rPr>
              <a:t>대시보드·시설별 성과·설정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리콜 계산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논문 근거 기반 4단계 자동 검진 주기 + v9 임박 팝업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70432"/>
            <a:ext cx="2779776" cy="3246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34440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0~3개월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18488"/>
            <a:ext cx="223113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682496"/>
            <a:ext cx="2596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적응기
(집중 관찰)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2395728"/>
            <a:ext cx="2084831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423160"/>
            <a:ext cx="20848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028090"/>
                </a:solidFill>
                <a:latin typeface="Malgun Gothic"/>
              </a:rPr>
              <a:t>리콜 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70048"/>
            <a:ext cx="2084831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28090"/>
                </a:solidFill>
                <a:latin typeface="Malgun Gothic"/>
              </a:rPr>
              <a:t>1개월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73552"/>
            <a:ext cx="250545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점막 적응 시기
85.8% 조정 필요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2706624"/>
            <a:ext cx="210312" cy="7315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170432"/>
            <a:ext cx="2779776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234440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3~12개월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79" y="1618488"/>
            <a:ext cx="223113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1682496"/>
            <a:ext cx="2596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1년차
(급격 흡수기)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5032" y="2395728"/>
            <a:ext cx="2084831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85032" y="2423160"/>
            <a:ext cx="20848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02C39A"/>
                </a:solidFill>
                <a:latin typeface="Malgun Gothic"/>
              </a:rPr>
              <a:t>리콜 주기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2670048"/>
            <a:ext cx="2084831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  <a:latin typeface="Malgun Gothic"/>
              </a:rPr>
              <a:t>3개월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73552"/>
            <a:ext cx="250545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골 흡수 최대
적합도 변화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17336" y="2706624"/>
            <a:ext cx="210312" cy="7315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27648" y="1170432"/>
            <a:ext cx="2779776" cy="324612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9088" y="1234440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1~5년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1968" y="1618488"/>
            <a:ext cx="223113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1682496"/>
            <a:ext cx="2596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안정기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395728"/>
            <a:ext cx="2084831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423160"/>
            <a:ext cx="20848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1F618D"/>
                </a:solidFill>
                <a:latin typeface="Malgun Gothic"/>
              </a:rPr>
              <a:t>리콜 주기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670048"/>
            <a:ext cx="2084831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F618D"/>
                </a:solidFill>
                <a:latin typeface="Malgun Gothic"/>
              </a:rPr>
              <a:t>6개월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273552"/>
            <a:ext cx="250545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골 흡수 안정
리라이닝 검토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07424" y="2706624"/>
            <a:ext cx="210312" cy="7315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17736" y="1170432"/>
            <a:ext cx="2779776" cy="324612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09176" y="1234440"/>
            <a:ext cx="2596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5년 이상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92056" y="1618488"/>
            <a:ext cx="223113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09176" y="1682496"/>
            <a:ext cx="2596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장기사용
(교체 검토)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5208" y="2395728"/>
            <a:ext cx="2084831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65208" y="2423160"/>
            <a:ext cx="20848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1A2F5F"/>
                </a:solidFill>
                <a:latin typeface="Malgun Gothic"/>
              </a:rPr>
              <a:t>리콜 주기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5208" y="2670048"/>
            <a:ext cx="2084831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A2F5F"/>
                </a:solidFill>
                <a:latin typeface="Malgun Gothic"/>
              </a:rPr>
              <a:t>6개월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4896" y="3273552"/>
            <a:ext cx="250545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algun Gothic"/>
              </a:rPr>
              <a:t>부적합·병변 위험↑
교체 강력 권고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590288"/>
            <a:ext cx="11494008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4590288"/>
            <a:ext cx="109728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4663440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A2F5F"/>
                </a:solidFill>
                <a:latin typeface="Malgun Gothic"/>
              </a:rPr>
              <a:t>v9 리콜 임박 팝업 알람  —  D-day 단계별 강도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" y="5120640"/>
            <a:ext cx="214884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5216" y="5166360"/>
            <a:ext cx="19293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D-14 이내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5504688"/>
            <a:ext cx="19293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노란색
'2주 뒤 검진 예정'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79776" y="5120640"/>
            <a:ext cx="214884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889504" y="5166360"/>
            <a:ext cx="19293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D-7 이내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9504" y="5504688"/>
            <a:ext cx="19293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주황색
+ 예약 버튼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4064" y="5120640"/>
            <a:ext cx="2148840" cy="914400"/>
          </a:xfrm>
          <a:prstGeom prst="rect">
            <a:avLst/>
          </a:prstGeom>
          <a:solidFill>
            <a:srgbClr val="CB4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93792" y="5166360"/>
            <a:ext cx="19293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D-3 이내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3792" y="5504688"/>
            <a:ext cx="19293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빨간색
+ 상단 배너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88352" y="5120640"/>
            <a:ext cx="2148840" cy="914400"/>
          </a:xfrm>
          <a:prstGeom prst="rect">
            <a:avLst/>
          </a:prstGeom>
          <a:solidFill>
            <a:srgbClr val="96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79" y="5166360"/>
            <a:ext cx="19293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D-day 당일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504688"/>
            <a:ext cx="19293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최고 강조
+ 팝업 알람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5120640"/>
            <a:ext cx="214884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02367" y="5166360"/>
            <a:ext cx="19293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D+1 이후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02367" y="5504688"/>
            <a:ext cx="1929384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Malgun Gothic"/>
              </a:rPr>
              <a:t>'다녀오셨어요?'
재설정 팝업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추진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v12까지 완료 · v13+ 차기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072" y="4384040"/>
            <a:ext cx="11494008" cy="7315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1760" y="4142740"/>
            <a:ext cx="566928" cy="566928"/>
          </a:xfrm>
          <a:prstGeom prst="ellipse">
            <a:avLst/>
          </a:prstGeom>
          <a:solidFill>
            <a:srgbClr val="626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1760" y="41554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70432"/>
            <a:ext cx="2651760" cy="2920492"/>
          </a:xfrm>
          <a:prstGeom prst="rect">
            <a:avLst/>
          </a:prstGeom>
          <a:solidFill>
            <a:srgbClr val="626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1234440"/>
            <a:ext cx="1133856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123444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●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544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Phase 1
기반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231136"/>
            <a:ext cx="2468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2026년 1~2월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8232"/>
            <a:ext cx="21396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894588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요구사항 분석 및 이론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095756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v1~v2 기초 알람·SOS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96924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BCW·COM-B 적용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750308"/>
            <a:ext cx="2651760" cy="18333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" y="4750308"/>
            <a:ext cx="2651760" cy="64008"/>
          </a:xfrm>
          <a:prstGeom prst="rect">
            <a:avLst/>
          </a:prstGeom>
          <a:solidFill>
            <a:srgbClr val="626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860036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626567"/>
                </a:solidFill>
                <a:latin typeface="Malgun Gothic"/>
              </a:rPr>
              <a:t>주요 산출물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623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v1·v2 프로토타입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957316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이론 적용 설계서</a:t>
            </a:r>
          </a:p>
        </p:txBody>
      </p:sp>
      <p:sp>
        <p:nvSpPr>
          <p:cNvPr id="24" name="Oval 23"/>
          <p:cNvSpPr/>
          <p:nvPr/>
        </p:nvSpPr>
        <p:spPr>
          <a:xfrm>
            <a:off x="4371848" y="4142740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1848" y="41554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65576" y="1170432"/>
            <a:ext cx="2651760" cy="292049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18888" y="1234440"/>
            <a:ext cx="1133856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123444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● 완료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5" y="15544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Phase 2
v3~v8 핵심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5" y="2231136"/>
            <a:ext cx="2468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2026년 3~4월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5032" y="2618232"/>
            <a:ext cx="21396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57015" y="2894588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환자 등록·리콜 계산 엔진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7015" y="3095756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검진 탭 개편 및 검진 유도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7015" y="3296924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데이터 영구 저장 구현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65576" y="4750308"/>
            <a:ext cx="2651760" cy="18333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465576" y="4750308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57015" y="4860036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028090"/>
                </a:solidFill>
                <a:latin typeface="Malgun Gothic"/>
              </a:rPr>
              <a:t>주요 산출물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7015" y="52623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v3~v8 앱 소스코드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7015" y="5957316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리콜·저장 모듈</a:t>
            </a:r>
          </a:p>
        </p:txBody>
      </p:sp>
      <p:sp>
        <p:nvSpPr>
          <p:cNvPr id="40" name="Oval 39"/>
          <p:cNvSpPr/>
          <p:nvPr/>
        </p:nvSpPr>
        <p:spPr>
          <a:xfrm>
            <a:off x="7361936" y="4142740"/>
            <a:ext cx="566928" cy="56692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61936" y="41554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5664" y="1170432"/>
            <a:ext cx="2651760" cy="29204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808975" y="1234440"/>
            <a:ext cx="1133856" cy="2926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08975" y="123444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● 완료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15544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Phase 3
v9~v12 고도화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2231136"/>
            <a:ext cx="2468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2026년 5~6월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2618232"/>
            <a:ext cx="21396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47104" y="2894588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팝업 알람·통합 알람 시스템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47104" y="3095756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건강보험 정보 팝업 15종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3296924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글씨 크기·루틴 시간 편집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5664" y="4750308"/>
            <a:ext cx="2651760" cy="18333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55664" y="4750308"/>
            <a:ext cx="265176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47104" y="4860036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Malgun Gothic"/>
              </a:rPr>
              <a:t>주요 산출물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4" y="52623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v9~v12 소스코드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47104" y="5957316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건강보험 콘텐츠</a:t>
            </a:r>
          </a:p>
        </p:txBody>
      </p:sp>
      <p:sp>
        <p:nvSpPr>
          <p:cNvPr id="56" name="Oval 55"/>
          <p:cNvSpPr/>
          <p:nvPr/>
        </p:nvSpPr>
        <p:spPr>
          <a:xfrm>
            <a:off x="10352024" y="4142740"/>
            <a:ext cx="566928" cy="566928"/>
          </a:xfrm>
          <a:prstGeom prst="ellipse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52024" y="4155440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45752" y="1170432"/>
            <a:ext cx="2651760" cy="2920492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1234440"/>
            <a:ext cx="1133856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99064" y="1234440"/>
            <a:ext cx="113385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● 예정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37192" y="1554480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Phase 4
v13+ 출시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37192" y="2231136"/>
            <a:ext cx="24688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Malgun Gothic"/>
              </a:rPr>
              <a:t>2026년 하반기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65208" y="2618232"/>
            <a:ext cx="213969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37192" y="2894588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치과 전문가 모드 (A4)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3095756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EMR 연계 (HL7 FHIR)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37192" y="3296924"/>
            <a:ext cx="2468880" cy="2793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• 앱스토어 정식 출시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45752" y="4750308"/>
            <a:ext cx="2651760" cy="18333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445752" y="4750308"/>
            <a:ext cx="2651760" cy="64008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37192" y="4860036"/>
            <a:ext cx="24688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1A2F5F"/>
                </a:solidFill>
                <a:latin typeface="Malgun Gothic"/>
              </a:rPr>
              <a:t>주요 산출물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37192" y="5262372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정식 앱 배포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37192" y="5957316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▸ 시설 협약서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9316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예산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단계별 예산 배분 및 소요 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4232"/>
            <a:ext cx="11521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 err="1">
                <a:solidFill>
                  <a:srgbClr val="1A2F5F"/>
                </a:solidFill>
                <a:latin typeface="Malgun Gothic"/>
              </a:rPr>
              <a:t>항목별</a:t>
            </a:r>
            <a:r>
              <a:rPr sz="1400" b="1" i="0" dirty="0">
                <a:solidFill>
                  <a:srgbClr val="1A2F5F"/>
                </a:solidFill>
                <a:latin typeface="Malgun Gothic"/>
              </a:rPr>
              <a:t> </a:t>
            </a:r>
            <a:r>
              <a:rPr sz="1400" b="1" i="0" dirty="0" err="1">
                <a:solidFill>
                  <a:srgbClr val="1A2F5F"/>
                </a:solidFill>
                <a:latin typeface="Malgun Gothic"/>
              </a:rPr>
              <a:t>예산</a:t>
            </a:r>
            <a:r>
              <a:rPr sz="1400" b="1" i="0" dirty="0">
                <a:solidFill>
                  <a:srgbClr val="1A2F5F"/>
                </a:solidFill>
                <a:latin typeface="Malgun Gothic"/>
              </a:rPr>
              <a:t> (</a:t>
            </a:r>
            <a:r>
              <a:rPr sz="1400" b="1" i="0" dirty="0" err="1">
                <a:solidFill>
                  <a:srgbClr val="1A2F5F"/>
                </a:solidFill>
                <a:latin typeface="Malgun Gothic"/>
              </a:rPr>
              <a:t>단위</a:t>
            </a:r>
            <a:r>
              <a:rPr sz="1400" b="1" i="0" dirty="0">
                <a:solidFill>
                  <a:srgbClr val="1A2F5F"/>
                </a:solidFill>
                <a:latin typeface="Malgun Gothic"/>
              </a:rPr>
              <a:t>: </a:t>
            </a:r>
            <a:r>
              <a:rPr sz="1400" b="1" i="0" dirty="0" err="1">
                <a:solidFill>
                  <a:srgbClr val="1A2F5F"/>
                </a:solidFill>
                <a:latin typeface="Malgun Gothic"/>
              </a:rPr>
              <a:t>만원</a:t>
            </a:r>
            <a:r>
              <a:rPr sz="1400" b="1" i="0" dirty="0">
                <a:solidFill>
                  <a:srgbClr val="1A2F5F"/>
                </a:solidFill>
                <a:latin typeface="Malgun Gothic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62608"/>
            <a:ext cx="11292840" cy="420624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580896"/>
            <a:ext cx="11978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1580896"/>
            <a:ext cx="2295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580896"/>
            <a:ext cx="52669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산출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7" y="1580896"/>
            <a:ext cx="165506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금액(만원)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3232"/>
            <a:ext cx="11292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64792" y="198323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98323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765792" y="198323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1983232"/>
            <a:ext cx="13075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C2833"/>
                </a:solidFill>
                <a:latin typeface="Malgun Gothic"/>
              </a:rPr>
              <a:t>개발비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7" y="1983232"/>
            <a:ext cx="24048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626567"/>
                </a:solidFill>
                <a:latin typeface="Malgun Gothic"/>
              </a:rPr>
              <a:t>앱 개발·UI/UX 디자인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983232"/>
            <a:ext cx="53766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프리랜서 개발자 300만원 × 4개월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7" y="1983232"/>
            <a:ext cx="1655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Malgun Gothic"/>
              </a:rPr>
              <a:t>1,200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31872"/>
            <a:ext cx="11292840" cy="548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64792" y="253187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9392" y="253187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65792" y="253187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531872"/>
            <a:ext cx="13075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C2833"/>
                </a:solidFill>
                <a:latin typeface="Malgun Gothic"/>
              </a:rPr>
              <a:t>서버·인프라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7" y="2531872"/>
            <a:ext cx="24048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626567"/>
                </a:solidFill>
                <a:latin typeface="Malgun Gothic"/>
              </a:rPr>
              <a:t>클라우드 서버·DB·보안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531872"/>
            <a:ext cx="53766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AWS 월 30만원 × 12개월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7" y="2531872"/>
            <a:ext cx="1655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Malgun Gothic"/>
              </a:rPr>
              <a:t>360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80512"/>
            <a:ext cx="11292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764792" y="308051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79392" y="308051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65792" y="308051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3080512"/>
            <a:ext cx="13075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C2833"/>
                </a:solidFill>
                <a:latin typeface="Malgun Gothic"/>
              </a:rPr>
              <a:t>파일럿 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7" y="3080512"/>
            <a:ext cx="24048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626567"/>
                </a:solidFill>
                <a:latin typeface="Malgun Gothic"/>
              </a:rPr>
              <a:t>테스트 노인 20명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080512"/>
            <a:ext cx="53766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교통비·사례비 10만원 × 20명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7" y="3080512"/>
            <a:ext cx="1655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Malgun Gothic"/>
              </a:rPr>
              <a:t>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629152"/>
            <a:ext cx="11292840" cy="548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764792" y="362915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279392" y="362915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65792" y="362915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3629152"/>
            <a:ext cx="13075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C2833"/>
                </a:solidFill>
                <a:latin typeface="Malgun Gothic"/>
              </a:rPr>
              <a:t>홍보·마케팅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92807" y="3629152"/>
            <a:ext cx="24048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626567"/>
                </a:solidFill>
                <a:latin typeface="Malgun Gothic"/>
              </a:rPr>
              <a:t>앱스토어 등록·홍보물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8" y="3629152"/>
            <a:ext cx="53766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앱스토어 등록비 + 리플렛·포스터 제작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7" y="3629152"/>
            <a:ext cx="1655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Malgun Gothic"/>
              </a:rPr>
              <a:t>150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177792"/>
            <a:ext cx="112928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764792" y="417779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79392" y="417779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765792" y="4177792"/>
            <a:ext cx="18288" cy="548640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" y="4177792"/>
            <a:ext cx="130759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1C2833"/>
                </a:solidFill>
                <a:latin typeface="Malgun Gothic"/>
              </a:rPr>
              <a:t>기타 운영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92807" y="4177792"/>
            <a:ext cx="24048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626567"/>
                </a:solidFill>
                <a:latin typeface="Malgun Gothic"/>
              </a:rPr>
              <a:t>인건비·교육·관리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4177792"/>
            <a:ext cx="537667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i="0">
                <a:solidFill>
                  <a:srgbClr val="1C2833"/>
                </a:solidFill>
                <a:latin typeface="Malgun Gothic"/>
              </a:rPr>
              <a:t>연구자 활동비, 워크숍·교육비 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7" y="4177792"/>
            <a:ext cx="165506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Malgun Gothic"/>
              </a:rPr>
              <a:t>290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26432"/>
            <a:ext cx="11292840" cy="45720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4726432"/>
            <a:ext cx="8961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algun Gothic"/>
              </a:rPr>
              <a:t>합  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93807" y="4726432"/>
            <a:ext cx="165506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Malgun Gothic"/>
              </a:rPr>
              <a:t>2,200만원</a:t>
            </a:r>
          </a:p>
        </p:txBody>
      </p:sp>
      <p:graphicFrame>
        <p:nvGraphicFramePr>
          <p:cNvPr id="56" name="Chart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378025"/>
              </p:ext>
            </p:extLst>
          </p:nvPr>
        </p:nvGraphicFramePr>
        <p:xfrm>
          <a:off x="384048" y="502920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6080760" y="4836160"/>
            <a:ext cx="5669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1A2F5F"/>
                </a:solidFill>
                <a:latin typeface="Malgun Gothic"/>
              </a:rPr>
              <a:t>예산 확보 계획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  <a:latin typeface="Malgun Gothic"/>
              </a:rPr>
              <a:t>임상적·사회적·경제적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70432"/>
            <a:ext cx="3749039" cy="5413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" y="1170432"/>
            <a:ext cx="3749039" cy="5120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243584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임상적 효과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47088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1847088"/>
            <a:ext cx="33832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1956816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Malgun Gothic"/>
              </a:rPr>
              <a:t>검진 수검률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340864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리콜 자동 알람으로 정기 검진율 30%↑ 목표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3364991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0352" y="3364991"/>
            <a:ext cx="33832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3474720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Malgun Gothic"/>
              </a:rPr>
              <a:t>구강 건강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858768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올바른 틀니 관리 습관으로 점막 병변 감소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4882896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0352" y="4882896"/>
            <a:ext cx="33832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4992624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Malgun Gothic"/>
              </a:rPr>
              <a:t>응급 대응 단축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376672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1탭 응급 연결로 대처 시간 50% 단축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1170432"/>
            <a:ext cx="3749039" cy="5413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25112" y="1170432"/>
            <a:ext cx="3749039" cy="5120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1243584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사회적 효과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1847088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07992" y="1847088"/>
            <a:ext cx="338328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54296" y="1956816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Malgun Gothic"/>
              </a:rPr>
              <a:t>노인 자립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2340864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자기관리 능력 향상으로 의존도 감소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3364991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07992" y="3364991"/>
            <a:ext cx="338328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54296" y="3474720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Malgun Gothic"/>
              </a:rPr>
              <a:t>가족 부담 경감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4296" y="3858768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원격 모니터링으로 보호자 불안 해소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7992" y="4882896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07992" y="4882896"/>
            <a:ext cx="338328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54296" y="4992624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Malgun Gothic"/>
              </a:rPr>
              <a:t>요양기관 효율화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4296" y="5376672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요양보호사의 다중 관리 시스템화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02752" y="1170432"/>
            <a:ext cx="3749039" cy="5413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02752" y="1170432"/>
            <a:ext cx="3749039" cy="512064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85632" y="1243584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경제적 효과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85632" y="1847088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485632" y="1847088"/>
            <a:ext cx="3383280" cy="64008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31936" y="1956816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F618D"/>
                </a:solidFill>
                <a:latin typeface="Malgun Gothic"/>
              </a:rPr>
              <a:t>의료비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1936" y="2340864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예방적 관리로 응급 치료비 절감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85632" y="3364991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485632" y="3364991"/>
            <a:ext cx="3383280" cy="64008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31936" y="3474720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F618D"/>
                </a:solidFill>
                <a:latin typeface="Malgun Gothic"/>
              </a:rPr>
              <a:t>치과 내원 최적화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31936" y="3858768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불필요한 응급 내원 감소, 예약제 전환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85632" y="4882896"/>
            <a:ext cx="3383280" cy="1335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485632" y="4882896"/>
            <a:ext cx="3383280" cy="64008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31936" y="4992624"/>
            <a:ext cx="30906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F618D"/>
                </a:solidFill>
                <a:latin typeface="Malgun Gothic"/>
              </a:rPr>
              <a:t>디지털 헬스 확장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1936" y="5376672"/>
            <a:ext cx="3090672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C2833"/>
                </a:solidFill>
                <a:latin typeface="Malgun Gothic"/>
              </a:rPr>
              <a:t>요양시설 연계 확대 가능성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DD0F78CC-2A6C-2A80-D001-AA1B9064BE2F}"/>
              </a:ext>
            </a:extLst>
          </p:cNvPr>
          <p:cNvSpPr/>
          <p:nvPr/>
        </p:nvSpPr>
        <p:spPr>
          <a:xfrm>
            <a:off x="365760" y="1115568"/>
            <a:ext cx="11394440" cy="53614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9B7DD0B-7D57-C062-35C0-BA9D9F8DA678}"/>
              </a:ext>
            </a:extLst>
          </p:cNvPr>
          <p:cNvSpPr/>
          <p:nvPr/>
        </p:nvSpPr>
        <p:spPr>
          <a:xfrm>
            <a:off x="365760" y="1115568"/>
            <a:ext cx="11394440" cy="1735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8CB7465-AA60-DFC1-CD64-B405783C7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12" y="2082800"/>
            <a:ext cx="3429000" cy="342900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2918325-4249-16C5-2EAC-A68F25DD30F4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66F3602-1583-4F4F-63B9-CA006DF74BA9}"/>
              </a:ext>
            </a:extLst>
          </p:cNvPr>
          <p:cNvSpPr/>
          <p:nvPr/>
        </p:nvSpPr>
        <p:spPr>
          <a:xfrm>
            <a:off x="0" y="0"/>
            <a:ext cx="128016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AFC14B-B3D8-E955-CB77-D26316B2CF95}"/>
              </a:ext>
            </a:extLst>
          </p:cNvPr>
          <p:cNvSpPr txBox="1"/>
          <p:nvPr/>
        </p:nvSpPr>
        <p:spPr>
          <a:xfrm>
            <a:off x="320040" y="110395"/>
            <a:ext cx="1005840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algun Gothic"/>
              </a:rPr>
              <a:t>Denture Care </a:t>
            </a:r>
            <a:r>
              <a:rPr lang="ko-KR" altLang="en-US" sz="2600" b="1" i="0" dirty="0">
                <a:solidFill>
                  <a:srgbClr val="FFFFFF"/>
                </a:solidFill>
                <a:latin typeface="Malgun Gothic"/>
              </a:rPr>
              <a:t>주소</a:t>
            </a:r>
            <a:endParaRPr sz="2600" b="1" i="0" dirty="0">
              <a:solidFill>
                <a:srgbClr val="FFFFFF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45095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-457200"/>
            <a:ext cx="5486400" cy="5486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0" y="1371600"/>
            <a:ext cx="3200400" cy="320040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749808"/>
            <a:ext cx="73152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결  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26464"/>
            <a:ext cx="3200400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7772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A8D8EA"/>
                </a:solidFill>
                <a:latin typeface="Malgun Gothic"/>
              </a:rPr>
              <a:t>DentureCare는 BCW·COM-B 행동변화 이론과 임상 연구(Tallgren 1972, Atwood 1971)를 기반으로
v12까지 12개 버전, 5,000줄 이상 구현된 노인 틀니 유지관리 통합 모바일 시스템입니다.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Malgun Gothic"/>
              </a:rPr>
              <a:t>v12까지 핵심 성취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55264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36976"/>
            <a:ext cx="6035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v3~v8 핵심 기반  —  등록·리콜 계산·검진 유도·영구 저장 구축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03904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039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85615"/>
            <a:ext cx="6035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v9 팝업 알람  —  D-day 단계별 리콜 임박 자동 팝업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52544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525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34255"/>
            <a:ext cx="6035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v10 통합 알람  —  응급 자가보고 + 미수행 자동 감지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901183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901183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82895"/>
            <a:ext cx="6035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v11 수정 다이얼로그  —  틀니 제작시기 수정 → 리콜 자동 재계산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49824"/>
            <a:ext cx="347472" cy="347472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44982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31536"/>
            <a:ext cx="6035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algun Gothic"/>
              </a:rPr>
              <a:t>v12 일일 정보 팝업  —  건강보험 안내 15종 + 글씨 크기·루틴 편집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33872"/>
            <a:ext cx="7772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A8D8EA"/>
                </a:solidFill>
                <a:latin typeface="Malgun Gothic"/>
              </a:rPr>
              <a:t>다음 단계: v13 치과 전문가 모드 → EMR 연계 (HL7 FHIR) → 앱스토어 정식 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114800"/>
            <a:ext cx="4114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"행동 자동화 + 검진 자동 유도"
통합 시스템 완성 (v12)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1931</Words>
  <Application>Microsoft Macintosh PowerPoint</Application>
  <PresentationFormat>사용자 지정</PresentationFormat>
  <Paragraphs>350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 도윤</cp:lastModifiedBy>
  <cp:revision>5</cp:revision>
  <dcterms:created xsi:type="dcterms:W3CDTF">2013-01-27T09:14:16Z</dcterms:created>
  <dcterms:modified xsi:type="dcterms:W3CDTF">2026-06-10T06:04:20Z</dcterms:modified>
  <cp:category/>
</cp:coreProperties>
</file>